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7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svg" ContentType="image/svg"/>
  <Override PartName="/ppt/media/image4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de-DE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Folie mittels Klicken verschieben</a:t>
            </a:r>
            <a:endParaRPr b="0" lang="de-DE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Format der Notizen mittels Klicken bearbeiten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&lt;Kopfzeile&gt;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dt" idx="4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buNone/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&lt;Datum/Uhrzeit&gt;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ftr" idx="4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buNone/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sldNum" idx="4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buNone/>
            </a:pPr>
            <a:fld id="{954A7C8A-D54B-4AAB-8FFC-F633143B8031}" type="slidenum"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&lt;Foliennummer&gt;</a:t>
            </a:fld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17892DF-A701-4958-8B75-ABCF40330D95}" type="slidenum">
              <a:rPr b="0" lang="de-DE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B44B341-A82A-49F1-89C8-996FB21A25BA}" type="slidenum">
              <a:rPr b="0" lang="de-DE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675647F-D04F-4376-A8E8-22DD497C52A0}" type="slidenum">
              <a:rPr b="0" lang="de-DE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C45467-39F1-4BA9-B967-4876EFFB3567}" type="slidenum">
              <a:rPr b="0" lang="de-DE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1333A6B-541F-45E9-BF21-720F2CF89F06}" type="slidenum">
              <a:rPr b="0" lang="de-DE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F40EA4-5FCF-4D0C-B5F8-17FDA96EA3A6}" type="slidenum">
              <a:rPr b="0" lang="de-DE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87C185C-7C90-43F4-AE7C-E439CD66F34F}" type="slidenum">
              <a:rPr b="0" lang="de-DE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2DFC2A-4BBD-4D30-9622-E07AFE16A9A2}" type="slidenum">
              <a:rPr b="0" lang="de-DE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BD0FC5-F646-496A-BAC3-EEE578FA5720}" type="slidenum">
              <a:rPr b="0" lang="de-DE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elfol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algn="l" pos="0"/>
              </a:tabLst>
              <a:defRPr b="0" lang="de-DE" sz="6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Titelmasterformat durch Klicken bearbeiten</a:t>
            </a:r>
            <a:endParaRPr b="0" lang="de-DE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&lt;Datum/Uhrzeit&gt;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2972CCD-913F-46F9-83B4-6ABB2EF9B47D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lstStyle>
            <a:lvl1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b="0" lang="de-DE" sz="2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gleic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90000"/>
              </a:lnSpc>
              <a:buNone/>
              <a:tabLst>
                <a:tab algn="l" pos="0"/>
              </a:tabLst>
              <a:defRPr b="0" lang="de-DE" sz="4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Titelmasterformat durch Klicken bearbeiten</a:t>
            </a:r>
            <a:endParaRPr b="0" lang="de-DE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  <a:defRPr b="1" lang="de-DE" sz="2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Textmasterformat bearbeiten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  <a:defRPr b="0" lang="de-DE" sz="2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  <a:defRPr b="0" lang="de-DE" sz="2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  <a:def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  <a:def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  <a:def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Textmasterformat bearbeiten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Vierte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Fünfte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  <a:defRPr b="1" lang="de-DE" sz="2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Textmasterformat bearbeiten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  <a:defRPr b="0" lang="de-DE" sz="2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  <a:defRPr b="0" lang="de-DE" sz="2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  <a:def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  <a:def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  <a:def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Textmasterformat bearbeiten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Vierte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Fünfte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&lt;Datum/Uhrzeit&gt;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7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8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307105C-B30F-4B0D-BB71-D639E09F3DE2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90000"/>
              </a:lnSpc>
              <a:buNone/>
              <a:tabLst>
                <a:tab algn="l" pos="0"/>
              </a:tabLst>
              <a:defRPr b="0" lang="de-DE" sz="4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Titelmasterformat durch Klicken bearbeiten</a:t>
            </a:r>
            <a:endParaRPr b="0" lang="de-DE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&lt;Datum/Uhrzeit&gt;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47B3E9-97AE-4D22-8DFB-931D0485EDE9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&lt;Datum/Uhrzeit&gt;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F2D284E-DCF5-45C7-BB9E-4220385DF656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914400">
              <a:lnSpc>
                <a:spcPct val="90000"/>
              </a:lnSpc>
              <a:buNone/>
              <a:tabLst>
                <a:tab algn="l" pos="0"/>
              </a:tabLst>
              <a:defRPr b="0" lang="de-DE" sz="32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Titelmasterformat durch Klicken bearbeiten</a:t>
            </a:r>
            <a:endParaRPr b="0" lang="de-DE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b="0" lang="de-DE" sz="32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b="0" lang="de-DE" sz="2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b="0" lang="de-DE" sz="2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Textmasterformat bearbeiten</a:t>
            </a:r>
            <a:endParaRPr b="0" lang="de-DE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Vierte 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Fünfte 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  <a:defRPr b="0" lang="de-DE" sz="16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Textmasterformat bearbeiten</a:t>
            </a:r>
            <a:endParaRPr b="0" lang="de-DE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&lt;Datum/Uhrzeit&gt;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839A5FA-591A-418C-A328-F357B29466A8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914400">
              <a:lnSpc>
                <a:spcPct val="90000"/>
              </a:lnSpc>
              <a:buNone/>
              <a:tabLst>
                <a:tab algn="l" pos="0"/>
              </a:tabLst>
              <a:defRPr b="0" lang="de-DE" sz="32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Titelmasterformat durch Klicken bearbeiten</a:t>
            </a:r>
            <a:endParaRPr b="0" lang="de-DE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marL="228600"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  <a:defRPr b="0" lang="de-DE" sz="32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228600"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Klicken Sie auf das Symbol, um ein Bild hinzuzufügen</a:t>
            </a:r>
            <a:endParaRPr b="0" lang="de-DE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  <a:defRPr b="0" lang="de-DE" sz="16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Textmasterformat bearbeiten</a:t>
            </a:r>
            <a:endParaRPr b="0" lang="de-DE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&lt;Datum/Uhrzeit&gt;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7086673-732C-4F8C-9384-0A32EBDE5B47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algn="l" pos="0"/>
              </a:tabLst>
              <a:defRPr b="0" lang="de-DE" sz="6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Titelmasterformat durch Klicken bearbeiten</a:t>
            </a:r>
            <a:endParaRPr b="0" lang="de-DE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&lt;Datum/Uhrzeit&gt;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E3CB15-7D78-4540-A93F-90E1FBC72B3B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lstStyle>
            <a:lvl1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b="0" lang="de-DE" sz="2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algn="l" pos="0"/>
              </a:tabLst>
              <a:defRPr b="0" lang="de-DE" sz="6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Titelmasterformat durch Klicken bearbeiten</a:t>
            </a:r>
            <a:endParaRPr b="0" lang="de-DE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&lt;Datum/Uhrzeit&gt;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2BE2615-780C-4FF2-81CF-234F7BD83F8E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lstStyle>
            <a:lvl1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b="0" lang="de-DE" sz="2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Standard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algn="l" pos="0"/>
              </a:tabLst>
              <a:defRPr b="0" lang="de-DE" sz="6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Titelmasterformat durch Klicken bearbeiten</a:t>
            </a:r>
            <a:endParaRPr b="0" lang="de-DE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&lt;Datum/Uhrzeit&gt;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0A5B6C-E6ED-4851-AAE4-C1368A156E8E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lstStyle>
            <a:lvl1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b="0" lang="de-DE" sz="2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el und vertikal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90000"/>
              </a:lnSpc>
              <a:buNone/>
              <a:tabLst>
                <a:tab algn="l" pos="0"/>
              </a:tabLst>
              <a:defRPr b="0" lang="de-DE" sz="4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Titelmasterformat durch Klicken bearbeiten</a:t>
            </a:r>
            <a:endParaRPr b="0" lang="de-DE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lstStyle>
            <a:lvl1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b="0" lang="de-DE" sz="2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b="0" lang="de-DE" sz="2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Textmasterformat bearbeiten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Vierte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Fünfte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&lt;Datum/Uhrzeit&gt;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E70E34-090C-448D-8C7A-006EC9D6E520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kaler Titel u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lstStyle>
            <a:lvl1pPr indent="0" defTabSz="914400">
              <a:lnSpc>
                <a:spcPct val="90000"/>
              </a:lnSpc>
              <a:buNone/>
              <a:tabLst>
                <a:tab algn="l" pos="0"/>
              </a:tabLst>
              <a:defRPr b="0" lang="de-DE" sz="4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Titelmasterformat durch Klicken bearbeiten</a:t>
            </a:r>
            <a:endParaRPr b="0" lang="de-DE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lstStyle>
            <a:lvl1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b="0" lang="de-DE" sz="2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b="0" lang="de-DE" sz="2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Textmasterformat bearbeiten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Vierte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Fünfte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&lt;Datum/Uhrzeit&gt;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1CCD8B-C30A-40DA-B530-03F40A2CF731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el und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90000"/>
              </a:lnSpc>
              <a:buNone/>
              <a:tabLst>
                <a:tab algn="l" pos="0"/>
              </a:tabLst>
              <a:defRPr b="0" lang="de-DE" sz="4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Titelmasterformat durch Klicken bearbeiten</a:t>
            </a:r>
            <a:endParaRPr b="0" lang="de-DE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b="0" lang="de-DE" sz="2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b="0" lang="de-DE" sz="2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Textmasterformat bearbeiten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Vierte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Fünfte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&lt;Datum/Uhrzeit&gt;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D286257-2EEF-4325-95D4-4999F0DFD45B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schnitts-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914400">
              <a:lnSpc>
                <a:spcPct val="90000"/>
              </a:lnSpc>
              <a:buNone/>
              <a:tabLst>
                <a:tab algn="l" pos="0"/>
              </a:tabLst>
              <a:defRPr b="0" lang="de-DE" sz="6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Titelmasterformat durch Klicken bearbeiten</a:t>
            </a:r>
            <a:endParaRPr b="0" lang="de-DE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  <a:defRPr b="0" lang="de-DE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Textmasterformat bearbeiten</a:t>
            </a:r>
            <a:endParaRPr b="0" lang="de-DE" sz="2400" strike="noStrike" u="none">
              <a:solidFill>
                <a:schemeClr val="dk1">
                  <a:tint val="7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&lt;Datum/Uhrzeit&gt;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496DEC0-085D-46B2-8665-47D3B92C0727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90000"/>
              </a:lnSpc>
              <a:buNone/>
              <a:tabLst>
                <a:tab algn="l" pos="0"/>
              </a:tabLst>
              <a:defRPr b="0" lang="de-DE" sz="4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Titelmasterformat durch Klicken bearbeiten</a:t>
            </a:r>
            <a:endParaRPr b="0" lang="de-DE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b="0" lang="de-DE" sz="2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b="0" lang="de-DE" sz="2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Textmasterformat bearbeiten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Vierte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Fünfte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b="0" lang="de-DE" sz="2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b="0" lang="de-DE" sz="2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Textmasterformat bearbeiten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Vierte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Fünfte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4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&lt;Datum/Uhrzeit&gt;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4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BC397AB-F809-488A-9887-0E6FF1BB3C11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s://arxiv.org/pdf/2505.22934" TargetMode="External"/><Relationship Id="rId2" Type="http://schemas.openxmlformats.org/officeDocument/2006/relationships/hyperlink" Target="https://arxiv.org/pdf/2505.24174" TargetMode="External"/><Relationship Id="rId3" Type="http://schemas.openxmlformats.org/officeDocument/2006/relationships/hyperlink" Target="https://arxiv.org/pdf/2502.14502" TargetMode="External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600200" y="602280"/>
            <a:ext cx="9143280" cy="41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algn="l" pos="0"/>
              </a:tabLst>
              <a:defRPr b="0" lang="de-DE" sz="3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Fine-Tuning variations</a:t>
            </a:r>
            <a:endParaRPr b="0" lang="de-DE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" name="Textfeld 82"/>
          <p:cNvSpPr/>
          <p:nvPr/>
        </p:nvSpPr>
        <p:spPr>
          <a:xfrm>
            <a:off x="609480" y="5569560"/>
            <a:ext cx="2879280" cy="11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Sources: </a:t>
            </a:r>
            <a:br>
              <a:rPr sz="1000"/>
            </a:b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Mixture of LoRA Experts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https://arxiv.org/abs/2404.13628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de-DE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LoRA: Low-Rank Adaptation of Large Language Models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https://arxiv.org/abs/2106.09685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3" name="Freihandform: Form 83"/>
          <p:cNvSpPr/>
          <p:nvPr/>
        </p:nvSpPr>
        <p:spPr>
          <a:xfrm>
            <a:off x="1950480" y="1695960"/>
            <a:ext cx="983160" cy="2018880"/>
          </a:xfrm>
          <a:custGeom>
            <a:avLst/>
            <a:gdLst>
              <a:gd name="textAreaLeft" fmla="*/ 47520 w 983160"/>
              <a:gd name="textAreaRight" fmla="*/ 935640 w 983160"/>
              <a:gd name="textAreaTop" fmla="*/ 44640 h 2018880"/>
              <a:gd name="textAreaBottom" fmla="*/ 1974240 h 2018880"/>
            </a:gdLst>
            <a:ahLst/>
            <a:cxnLst/>
            <a:rect l="textAreaLeft" t="textAreaTop" r="textAreaRight" b="textAreaBottom"/>
            <a:pathLst>
              <a:path w="21600" h="47165">
                <a:moveTo>
                  <a:pt x="3600" y="0"/>
                </a:moveTo>
                <a:arcTo wR="3600" hR="3600" stAng="16200000" swAng="-5400000"/>
                <a:lnTo>
                  <a:pt x="0" y="43565"/>
                </a:lnTo>
                <a:arcTo wR="3600" hR="3600" stAng="10800000" swAng="-5400000"/>
                <a:lnTo>
                  <a:pt x="18000" y="47165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de-DE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Unfrozen Matrix W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feld 84"/>
          <p:cNvSpPr/>
          <p:nvPr/>
        </p:nvSpPr>
        <p:spPr>
          <a:xfrm>
            <a:off x="1549800" y="4069080"/>
            <a:ext cx="174528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de-DE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(a) Full Fine-tuning</a:t>
            </a:r>
            <a:br>
              <a:rPr sz="1600"/>
            </a:br>
            <a:r>
              <a:rPr b="0" lang="de-DE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 (</a:t>
            </a:r>
            <a:r>
              <a:rPr b="0" lang="el-GR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Δ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W)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5" name="Flussdiagramm: Manuelle Verarbeitung 1"/>
          <p:cNvSpPr/>
          <p:nvPr/>
        </p:nvSpPr>
        <p:spPr>
          <a:xfrm>
            <a:off x="4366440" y="1712880"/>
            <a:ext cx="1052640" cy="582840"/>
          </a:xfrm>
          <a:prstGeom prst="flowChartManualOperation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de-DE" sz="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 = 0</a:t>
            </a:r>
            <a:endParaRPr b="0" lang="de-DE" sz="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86" name="Trapezoid 3"/>
          <p:cNvSpPr/>
          <p:nvPr/>
        </p:nvSpPr>
        <p:spPr>
          <a:xfrm>
            <a:off x="4440600" y="2949840"/>
            <a:ext cx="991440" cy="582840"/>
          </a:xfrm>
          <a:prstGeom prst="trapezoid">
            <a:avLst>
              <a:gd name="adj" fmla="val 25000"/>
            </a:avLst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 = 𝒩(0, </a:t>
            </a:r>
            <a:r>
              <a:rPr b="0" lang="el-GR" sz="7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σ²)</a:t>
            </a:r>
            <a:endParaRPr b="0" lang="de-DE" sz="7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87" name="Gerader Verbinder 5"/>
          <p:cNvCxnSpPr/>
          <p:nvPr/>
        </p:nvCxnSpPr>
        <p:spPr>
          <a:xfrm>
            <a:off x="4928760" y="2347200"/>
            <a:ext cx="8280" cy="485280"/>
          </a:xfrm>
          <a:prstGeom prst="straightConnector1">
            <a:avLst/>
          </a:prstGeom>
          <a:ln w="9525">
            <a:solidFill>
              <a:srgbClr val="000000"/>
            </a:solidFill>
            <a:prstDash val="dash"/>
            <a:round/>
          </a:ln>
        </p:spPr>
      </p:cxnSp>
      <p:sp>
        <p:nvSpPr>
          <p:cNvPr id="88" name="Textfeld 13"/>
          <p:cNvSpPr/>
          <p:nvPr/>
        </p:nvSpPr>
        <p:spPr>
          <a:xfrm>
            <a:off x="4056120" y="4044960"/>
            <a:ext cx="174528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de-DE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(b) LoRA</a:t>
            </a:r>
            <a:br>
              <a:rPr sz="1600"/>
            </a:br>
            <a:r>
              <a:rPr b="0" lang="de-DE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</a:t>
            </a:r>
            <a:r>
              <a:rPr b="0" lang="el-GR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Δ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 = BA)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hteck: abgerundete Ecken 6"/>
          <p:cNvSpPr/>
          <p:nvPr/>
        </p:nvSpPr>
        <p:spPr>
          <a:xfrm>
            <a:off x="8230320" y="4382280"/>
            <a:ext cx="830880" cy="231480"/>
          </a:xfrm>
          <a:prstGeom prst="roundRect">
            <a:avLst>
              <a:gd name="adj" fmla="val 16667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de-DE" sz="11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Router</a:t>
            </a:r>
            <a:endParaRPr b="0" lang="de-DE" sz="11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90" name="Gerader Verbinder 10"/>
          <p:cNvCxnSpPr/>
          <p:nvPr/>
        </p:nvCxnSpPr>
        <p:spPr>
          <a:xfrm>
            <a:off x="7193880" y="3962160"/>
            <a:ext cx="288684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91" name="Gerader Verbinder 37"/>
          <p:cNvCxnSpPr/>
          <p:nvPr/>
        </p:nvCxnSpPr>
        <p:spPr>
          <a:xfrm>
            <a:off x="7186320" y="3533040"/>
            <a:ext cx="7920" cy="4294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92" name="Flussdiagramm: Manuelle Verarbeitung 45"/>
          <p:cNvSpPr/>
          <p:nvPr/>
        </p:nvSpPr>
        <p:spPr>
          <a:xfrm>
            <a:off x="6624000" y="1699200"/>
            <a:ext cx="1052640" cy="582840"/>
          </a:xfrm>
          <a:prstGeom prst="flowChartManualOperation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de-DE" sz="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 = 0</a:t>
            </a:r>
            <a:endParaRPr b="0" lang="de-DE" sz="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93" name="Trapezoid 46"/>
          <p:cNvSpPr/>
          <p:nvPr/>
        </p:nvSpPr>
        <p:spPr>
          <a:xfrm>
            <a:off x="6698160" y="2936160"/>
            <a:ext cx="991440" cy="582840"/>
          </a:xfrm>
          <a:prstGeom prst="trapezoid">
            <a:avLst>
              <a:gd name="adj" fmla="val 25000"/>
            </a:avLst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 = 𝒩(0, </a:t>
            </a:r>
            <a:r>
              <a:rPr b="0" lang="el-GR" sz="7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σ²)</a:t>
            </a:r>
            <a:endParaRPr b="0" lang="de-DE" sz="7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94" name="Gerader Verbinder 47"/>
          <p:cNvCxnSpPr/>
          <p:nvPr/>
        </p:nvCxnSpPr>
        <p:spPr>
          <a:xfrm>
            <a:off x="7186320" y="2333880"/>
            <a:ext cx="7920" cy="484920"/>
          </a:xfrm>
          <a:prstGeom prst="straightConnector1">
            <a:avLst/>
          </a:prstGeom>
          <a:ln w="9525">
            <a:solidFill>
              <a:srgbClr val="000000"/>
            </a:solidFill>
            <a:prstDash val="dash"/>
            <a:round/>
          </a:ln>
        </p:spPr>
      </p:cxnSp>
      <p:sp>
        <p:nvSpPr>
          <p:cNvPr id="95" name="Flussdiagramm: Manuelle Verarbeitung 51"/>
          <p:cNvSpPr/>
          <p:nvPr/>
        </p:nvSpPr>
        <p:spPr>
          <a:xfrm>
            <a:off x="8022240" y="1658880"/>
            <a:ext cx="1052640" cy="582840"/>
          </a:xfrm>
          <a:prstGeom prst="flowChartManualOperation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de-DE" sz="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 = 0</a:t>
            </a:r>
            <a:endParaRPr b="0" lang="de-DE" sz="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96" name="Trapezoid 52"/>
          <p:cNvSpPr/>
          <p:nvPr/>
        </p:nvSpPr>
        <p:spPr>
          <a:xfrm>
            <a:off x="8096400" y="2895480"/>
            <a:ext cx="991440" cy="582840"/>
          </a:xfrm>
          <a:prstGeom prst="trapezoid">
            <a:avLst>
              <a:gd name="adj" fmla="val 25000"/>
            </a:avLst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 = 𝒩(0, </a:t>
            </a:r>
            <a:r>
              <a:rPr b="0" lang="el-GR" sz="7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σ²)</a:t>
            </a:r>
            <a:endParaRPr b="0" lang="de-DE" sz="7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97" name="Gerader Verbinder 53"/>
          <p:cNvCxnSpPr/>
          <p:nvPr/>
        </p:nvCxnSpPr>
        <p:spPr>
          <a:xfrm>
            <a:off x="8584560" y="2293200"/>
            <a:ext cx="7920" cy="484920"/>
          </a:xfrm>
          <a:prstGeom prst="straightConnector1">
            <a:avLst/>
          </a:prstGeom>
          <a:ln w="9525">
            <a:solidFill>
              <a:srgbClr val="000000"/>
            </a:solidFill>
            <a:prstDash val="dash"/>
            <a:round/>
          </a:ln>
        </p:spPr>
      </p:cxnSp>
      <p:sp>
        <p:nvSpPr>
          <p:cNvPr id="98" name="Flussdiagramm: Manuelle Verarbeitung 54"/>
          <p:cNvSpPr/>
          <p:nvPr/>
        </p:nvSpPr>
        <p:spPr>
          <a:xfrm>
            <a:off x="9427680" y="1633320"/>
            <a:ext cx="1052640" cy="582840"/>
          </a:xfrm>
          <a:prstGeom prst="flowChartManualOperation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de-DE" sz="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 = 0</a:t>
            </a:r>
            <a:endParaRPr b="0" lang="de-DE" sz="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99" name="Trapezoid 55"/>
          <p:cNvSpPr/>
          <p:nvPr/>
        </p:nvSpPr>
        <p:spPr>
          <a:xfrm>
            <a:off x="9501840" y="2870280"/>
            <a:ext cx="991440" cy="582840"/>
          </a:xfrm>
          <a:prstGeom prst="trapezoid">
            <a:avLst>
              <a:gd name="adj" fmla="val 25000"/>
            </a:avLst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 = 𝒩(0, </a:t>
            </a:r>
            <a:r>
              <a:rPr b="0" lang="el-GR" sz="7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σ²)</a:t>
            </a:r>
            <a:endParaRPr b="0" lang="de-DE" sz="7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100" name="Gerader Verbinder 56"/>
          <p:cNvCxnSpPr/>
          <p:nvPr/>
        </p:nvCxnSpPr>
        <p:spPr>
          <a:xfrm>
            <a:off x="9990000" y="2268000"/>
            <a:ext cx="8280" cy="484920"/>
          </a:xfrm>
          <a:prstGeom prst="straightConnector1">
            <a:avLst/>
          </a:prstGeom>
          <a:ln w="9525">
            <a:solidFill>
              <a:srgbClr val="000000"/>
            </a:solidFill>
            <a:prstDash val="dash"/>
            <a:round/>
          </a:ln>
        </p:spPr>
      </p:cxnSp>
      <p:cxnSp>
        <p:nvCxnSpPr>
          <p:cNvPr id="101" name="Gerader Verbinder 59"/>
          <p:cNvCxnSpPr/>
          <p:nvPr/>
        </p:nvCxnSpPr>
        <p:spPr>
          <a:xfrm>
            <a:off x="8592120" y="3533040"/>
            <a:ext cx="7920" cy="4294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02" name="Gerader Verbinder 60"/>
          <p:cNvCxnSpPr/>
          <p:nvPr/>
        </p:nvCxnSpPr>
        <p:spPr>
          <a:xfrm>
            <a:off x="10072800" y="3533040"/>
            <a:ext cx="7920" cy="4294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03" name="Rechteck 39"/>
          <p:cNvSpPr/>
          <p:nvPr/>
        </p:nvSpPr>
        <p:spPr>
          <a:xfrm>
            <a:off x="8292960" y="4044960"/>
            <a:ext cx="85320" cy="3045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4" name="Rechteck 62"/>
          <p:cNvSpPr/>
          <p:nvPr/>
        </p:nvSpPr>
        <p:spPr>
          <a:xfrm>
            <a:off x="8620560" y="4217040"/>
            <a:ext cx="85320" cy="13212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5" name="Rechteck 63"/>
          <p:cNvSpPr/>
          <p:nvPr/>
        </p:nvSpPr>
        <p:spPr>
          <a:xfrm>
            <a:off x="8456760" y="4150440"/>
            <a:ext cx="85320" cy="1987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feld 43"/>
          <p:cNvSpPr/>
          <p:nvPr/>
        </p:nvSpPr>
        <p:spPr>
          <a:xfrm>
            <a:off x="8751240" y="4119480"/>
            <a:ext cx="51624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Top - k</a:t>
            </a:r>
            <a:endParaRPr b="0" lang="de-DE" sz="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feld 65"/>
          <p:cNvSpPr/>
          <p:nvPr/>
        </p:nvSpPr>
        <p:spPr>
          <a:xfrm>
            <a:off x="7574760" y="4807800"/>
            <a:ext cx="240588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de-DE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(c) LoRA + MOE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 defTabSz="914400">
              <a:lnSpc>
                <a:spcPct val="100000"/>
              </a:lnSpc>
            </a:pPr>
            <a:r>
              <a:rPr b="0" lang="el-GR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Δ</a:t>
            </a:r>
            <a:r>
              <a:rPr b="0" lang="de-DE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 = B₁A₁ + ⋯ + BₙAₙ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600200" y="456840"/>
            <a:ext cx="914328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algn="l" pos="0"/>
              </a:tabLst>
              <a:defRPr b="0" lang="de-DE" sz="3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Assymetric LoRA</a:t>
            </a:r>
            <a:endParaRPr b="0" lang="de-DE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9" name="Flussdiagramm: Manuelle Verarbeitung 25"/>
          <p:cNvSpPr/>
          <p:nvPr/>
        </p:nvSpPr>
        <p:spPr>
          <a:xfrm>
            <a:off x="6293880" y="1816200"/>
            <a:ext cx="1052640" cy="582840"/>
          </a:xfrm>
          <a:prstGeom prst="flowChartManualOperation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de-DE" sz="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B₁ = 0</a:t>
            </a:r>
            <a:endParaRPr b="0" lang="de-DE" sz="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110" name="Gerader Verbinder 27"/>
          <p:cNvCxnSpPr/>
          <p:nvPr/>
        </p:nvCxnSpPr>
        <p:spPr>
          <a:xfrm>
            <a:off x="6856200" y="2450520"/>
            <a:ext cx="1011600" cy="908280"/>
          </a:xfrm>
          <a:prstGeom prst="straightConnector1">
            <a:avLst/>
          </a:prstGeom>
          <a:ln w="9525">
            <a:solidFill>
              <a:srgbClr val="000000"/>
            </a:solidFill>
            <a:prstDash val="dash"/>
            <a:round/>
          </a:ln>
        </p:spPr>
      </p:cxnSp>
      <p:sp>
        <p:nvSpPr>
          <p:cNvPr id="111" name="Flussdiagramm: Manuelle Verarbeitung 28"/>
          <p:cNvSpPr/>
          <p:nvPr/>
        </p:nvSpPr>
        <p:spPr>
          <a:xfrm>
            <a:off x="7692120" y="1775520"/>
            <a:ext cx="1052640" cy="582840"/>
          </a:xfrm>
          <a:prstGeom prst="flowChartManualOperation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de-DE" sz="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B₂ = 0</a:t>
            </a:r>
            <a:endParaRPr b="0" lang="de-DE" sz="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12" name="Flussdiagramm: Manuelle Verarbeitung 31"/>
          <p:cNvSpPr/>
          <p:nvPr/>
        </p:nvSpPr>
        <p:spPr>
          <a:xfrm>
            <a:off x="9090360" y="1768320"/>
            <a:ext cx="1052640" cy="582840"/>
          </a:xfrm>
          <a:prstGeom prst="flowChartManualOperation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de-DE" sz="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Bₙ = 0</a:t>
            </a:r>
            <a:endParaRPr b="0" lang="de-DE" sz="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feld 40"/>
          <p:cNvSpPr/>
          <p:nvPr/>
        </p:nvSpPr>
        <p:spPr>
          <a:xfrm>
            <a:off x="7015320" y="4289760"/>
            <a:ext cx="240588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de-DE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(d) HydraLoRA / MTL-LoRA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 defTabSz="914400">
              <a:lnSpc>
                <a:spcPct val="100000"/>
              </a:lnSpc>
            </a:pPr>
            <a:r>
              <a:rPr b="0" lang="de-DE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</a:t>
            </a:r>
            <a:r>
              <a:rPr b="0" lang="el-GR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Δ</a:t>
            </a:r>
            <a:r>
              <a:rPr b="0" lang="de-DE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 = (B₁ + ⋯ + Bₙ)A)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4" name="Trapezoid 41"/>
          <p:cNvSpPr/>
          <p:nvPr/>
        </p:nvSpPr>
        <p:spPr>
          <a:xfrm>
            <a:off x="7766280" y="3374640"/>
            <a:ext cx="991440" cy="582840"/>
          </a:xfrm>
          <a:prstGeom prst="trapezoid">
            <a:avLst>
              <a:gd name="adj" fmla="val 25000"/>
            </a:avLst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 = 𝒩(0, </a:t>
            </a:r>
            <a:r>
              <a:rPr b="0" lang="el-GR" sz="7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σ²)</a:t>
            </a:r>
            <a:endParaRPr b="0" lang="de-DE" sz="7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115" name="Gerader Verbinder 43"/>
          <p:cNvCxnSpPr/>
          <p:nvPr/>
        </p:nvCxnSpPr>
        <p:spPr>
          <a:xfrm flipH="1">
            <a:off x="8667720" y="2399400"/>
            <a:ext cx="983160" cy="959400"/>
          </a:xfrm>
          <a:prstGeom prst="straightConnector1">
            <a:avLst/>
          </a:prstGeom>
          <a:ln w="9525">
            <a:solidFill>
              <a:srgbClr val="000000"/>
            </a:solidFill>
            <a:prstDash val="dash"/>
            <a:round/>
          </a:ln>
        </p:spPr>
      </p:cxnSp>
      <p:cxnSp>
        <p:nvCxnSpPr>
          <p:cNvPr id="116" name="Gerader Verbinder 46"/>
          <p:cNvCxnSpPr/>
          <p:nvPr/>
        </p:nvCxnSpPr>
        <p:spPr>
          <a:xfrm>
            <a:off x="8241840" y="2429280"/>
            <a:ext cx="20520" cy="918000"/>
          </a:xfrm>
          <a:prstGeom prst="straightConnector1">
            <a:avLst/>
          </a:prstGeom>
          <a:ln w="9525">
            <a:solidFill>
              <a:srgbClr val="000000"/>
            </a:solidFill>
            <a:prstDash val="dash"/>
            <a:round/>
          </a:ln>
        </p:spPr>
      </p:cxnSp>
      <p:sp>
        <p:nvSpPr>
          <p:cNvPr id="117" name="Textfeld 48"/>
          <p:cNvSpPr/>
          <p:nvPr/>
        </p:nvSpPr>
        <p:spPr>
          <a:xfrm>
            <a:off x="1041120" y="1500480"/>
            <a:ext cx="3542040" cy="369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Problems with usual LoRA: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Bad performance on heterogenous data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Same A and B matrix capture mixed signals and are tuned jointly for all data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Assymetric LoRA: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Using multiple smaller LoRA heads (B matrices) enhances performance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 matrices learn shared patterns, B matrices capture task/domain specific features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feld 49"/>
          <p:cNvSpPr/>
          <p:nvPr/>
        </p:nvSpPr>
        <p:spPr>
          <a:xfrm>
            <a:off x="1041120" y="5842440"/>
            <a:ext cx="4463640" cy="10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Sources:</a:t>
            </a:r>
            <a:br>
              <a:rPr sz="1000"/>
            </a:b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HydraLoRA: An Asymmetric LoRA Architecture for Efficient Fine-Tuning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https://arxiv.org/abs/2404.19245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de-DE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MTL-LoRA: Low-Rank Adaptation for Multi-Task Learning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https://arxiv.org/abs/2410.09437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600200" y="602280"/>
            <a:ext cx="9143280" cy="41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algn="l" pos="0"/>
              </a:tabLst>
              <a:defRPr b="0" lang="de-DE" sz="3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Collaborative LoRA</a:t>
            </a:r>
            <a:endParaRPr b="0" lang="de-DE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feld 48"/>
          <p:cNvSpPr/>
          <p:nvPr/>
        </p:nvSpPr>
        <p:spPr>
          <a:xfrm>
            <a:off x="530640" y="4359600"/>
            <a:ext cx="11058840" cy="14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COLA Collaborative LoRA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Flexible many-to-many A-B relationships, #A #B are hyperparameters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Three collborative strategies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1. All A and B matrices share information during training (cross matrix coupling)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2. randomly pairs A-B combinations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Hybrid one-to-one and many-to-many structures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21" name="Grafik 2" descr=""/>
          <p:cNvPicPr/>
          <p:nvPr/>
        </p:nvPicPr>
        <p:blipFill>
          <a:blip r:embed="rId1"/>
          <a:stretch/>
        </p:blipFill>
        <p:spPr>
          <a:xfrm>
            <a:off x="367920" y="1146240"/>
            <a:ext cx="11607480" cy="283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feld 5"/>
          <p:cNvSpPr/>
          <p:nvPr/>
        </p:nvSpPr>
        <p:spPr>
          <a:xfrm>
            <a:off x="8566560" y="6309720"/>
            <a:ext cx="446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Sources:</a:t>
            </a:r>
            <a:br>
              <a:rPr sz="1000"/>
            </a:b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CoLA: Collaborative Low-Rank Adaptation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https://arxiv.org/abs/2505.15471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600200" y="456840"/>
            <a:ext cx="914328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algn="l" pos="0"/>
              </a:tabLst>
              <a:defRPr b="0" lang="de-DE" sz="3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Hierarchical LoRA</a:t>
            </a:r>
            <a:endParaRPr b="0" lang="de-DE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24" name="Grafik 87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882080" y="1836360"/>
            <a:ext cx="7307280" cy="3184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600200" y="456840"/>
            <a:ext cx="914328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algn="l" pos="0"/>
              </a:tabLst>
              <a:defRPr b="0" lang="de-DE" sz="3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Hierarchical LoRA</a:t>
            </a:r>
            <a:endParaRPr b="0" lang="de-DE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26" name="Grafik 87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385680" y="1836360"/>
            <a:ext cx="5097600" cy="344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feld 1"/>
          <p:cNvSpPr/>
          <p:nvPr/>
        </p:nvSpPr>
        <p:spPr>
          <a:xfrm>
            <a:off x="1184760" y="1163520"/>
            <a:ext cx="5097600" cy="23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Technical Details: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Use PiSSA initialization for LoRA modules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Top-k router to route to langueg specific module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Use different A-B relationsships to capture language specific patterns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002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CoLA: Collaborative LoRA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002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Hydra LoRA / MTL-LoRA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002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Fly-LoRa</a:t>
            </a: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Replay strategy and Language Prior routing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defTabSz="914400">
              <a:lnSpc>
                <a:spcPct val="100000"/>
              </a:lnSpc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feld 2"/>
          <p:cNvSpPr/>
          <p:nvPr/>
        </p:nvSpPr>
        <p:spPr>
          <a:xfrm>
            <a:off x="1020960" y="3558600"/>
            <a:ext cx="5767920" cy="273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Reasoning: 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Novelty by two stage routing / hierarchical design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200 languages exactly capture the “heterogenous data problems” CoLA and HydraLoRA tackle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Modular and extensible design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Risks: 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Unstable training, higher computational demand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With Hydra LoRA we would have two routers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Highly unequal expert use for different languages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Is this what MoE was made for?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More? 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feld 3"/>
          <p:cNvSpPr/>
          <p:nvPr/>
        </p:nvSpPr>
        <p:spPr>
          <a:xfrm>
            <a:off x="6663240" y="5168880"/>
            <a:ext cx="741384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Sources:</a:t>
            </a:r>
            <a:endParaRPr b="0" lang="de-DE" sz="5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0" lang="en-US" sz="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HydraLoRA: An Asymmetric LoRA Architecture for Efficient Fine-Tuning</a:t>
            </a:r>
            <a:endParaRPr b="0" lang="de-DE" sz="5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0" lang="en-US" sz="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https://arxiv.org/abs/2404.19245</a:t>
            </a:r>
            <a:endParaRPr b="0" lang="de-DE" sz="5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de-DE" sz="5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0" lang="en-US" sz="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MTL-LoRA: Low-Rank Adaptation for Multi-Task Learning</a:t>
            </a:r>
            <a:endParaRPr b="0" lang="de-DE" sz="5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0" lang="en-US" sz="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https://arxiv.org/abs/2410.09437</a:t>
            </a:r>
            <a:endParaRPr b="0" lang="de-DE" sz="5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de-DE" sz="5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0" lang="en-US" sz="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FlyLoRA: Boosting Task Decoupling and Parameter Efficiency via Implicit Rank-Wise Mixture-of-Experts</a:t>
            </a:r>
            <a:endParaRPr b="0" lang="de-DE" sz="5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0" lang="en-US" sz="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https://arxiv.org/abs/2510.08396</a:t>
            </a:r>
            <a:endParaRPr b="0" lang="de-DE" sz="5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de-DE" sz="5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0" lang="en-US" sz="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PiSSA: Principal Singular Values and Singular</a:t>
            </a:r>
            <a:endParaRPr b="0" lang="de-DE" sz="5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0" lang="en-US" sz="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Vectors Adaptation of Large Language Models</a:t>
            </a:r>
            <a:endParaRPr b="0" lang="de-DE" sz="5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0" lang="en-US" sz="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https://arxiv.org/abs/2404.02948</a:t>
            </a:r>
            <a:endParaRPr b="0" lang="de-DE" sz="5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de-DE" sz="5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0" lang="en-US" sz="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CoLA: Collaborative Low-Rank Adaptation</a:t>
            </a:r>
            <a:endParaRPr b="0" lang="de-DE" sz="5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0" lang="en-US" sz="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https://arxiv.org/abs/2505.15471</a:t>
            </a:r>
            <a:endParaRPr b="0" lang="de-DE" sz="5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de-DE" sz="5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0" lang="en-US" sz="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Mixture of LoRA Experts</a:t>
            </a:r>
            <a:endParaRPr b="0" lang="de-DE" sz="5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0" lang="en-US" sz="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https://arxiv.org/abs/2404.13628</a:t>
            </a:r>
            <a:endParaRPr b="0" lang="de-DE" sz="5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600200" y="602280"/>
            <a:ext cx="9143280" cy="41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algn="l" pos="0"/>
              </a:tabLst>
              <a:defRPr b="0" lang="de-DE" sz="3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Alternative I</a:t>
            </a:r>
            <a:endParaRPr b="0" lang="de-DE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31" name="Grafik 5" descr=""/>
          <p:cNvPicPr/>
          <p:nvPr/>
        </p:nvPicPr>
        <p:blipFill>
          <a:blip r:embed="rId1"/>
          <a:stretch/>
        </p:blipFill>
        <p:spPr>
          <a:xfrm>
            <a:off x="470520" y="3040560"/>
            <a:ext cx="11250720" cy="345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feld 7"/>
          <p:cNvSpPr/>
          <p:nvPr/>
        </p:nvSpPr>
        <p:spPr>
          <a:xfrm>
            <a:off x="883800" y="1199880"/>
            <a:ext cx="9745560" cy="193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Heterogenous MoE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This can be adapted for adpaers, by just varying the lora rank for different adapters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de-DE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Idea: If we seperate lora modules by language families, some families shoudl require more parameters depdending on their expert usage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Cons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Does load balacing loss make this uselsee?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600200" y="602280"/>
            <a:ext cx="9143280" cy="41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algn="l" pos="0"/>
              </a:tabLst>
              <a:defRPr b="0" lang="de-DE" sz="3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Alternative II</a:t>
            </a:r>
            <a:endParaRPr b="0" lang="de-DE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feld 7"/>
          <p:cNvSpPr/>
          <p:nvPr/>
        </p:nvSpPr>
        <p:spPr>
          <a:xfrm>
            <a:off x="883800" y="1199880"/>
            <a:ext cx="9745560" cy="17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Mixture of Depths for adapters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de-DE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Every token gets same compute at every layer, even when not needed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de-DE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In each transformer layer, router scores all tokens for importance, model takes only most importatn tokens and they go throught the entire layer, the other tokens pass through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0" lang="de-DE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https://arxiv.org/pdf/2404.02258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600200" y="602280"/>
            <a:ext cx="9143280" cy="41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algn="l" pos="0"/>
              </a:tabLst>
              <a:defRPr b="0" lang="de-DE" sz="3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Alternative III</a:t>
            </a:r>
            <a:endParaRPr b="0" lang="de-DE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feld 7"/>
          <p:cNvSpPr/>
          <p:nvPr/>
        </p:nvSpPr>
        <p:spPr>
          <a:xfrm>
            <a:off x="883800" y="1199880"/>
            <a:ext cx="9745560" cy="16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Best-practices approach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Use SOTA tokenizer extension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SOTA initialization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SOTA Mixture of Aadapter routing / strategy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Mabye a replay strategy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de-DE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600200" y="602280"/>
            <a:ext cx="9143280" cy="41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algn="l" pos="0"/>
              </a:tabLst>
              <a:defRPr b="0" lang="de-DE" sz="30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Further</a:t>
            </a:r>
            <a:endParaRPr b="0" lang="de-DE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feld 4"/>
          <p:cNvSpPr/>
          <p:nvPr/>
        </p:nvSpPr>
        <p:spPr>
          <a:xfrm>
            <a:off x="883800" y="1199880"/>
            <a:ext cx="9745560" cy="258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LoRA merging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Arial"/>
                <a:hlinkClick r:id="rId1"/>
              </a:rPr>
              <a:t>https://arxiv.org/pdf/2505.22934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Arial"/>
                <a:hlinkClick r:id="rId2"/>
              </a:rPr>
              <a:t>https://arxiv.org/pdf/2505.24174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Arial"/>
                <a:hlinkClick r:id="rId3"/>
              </a:rPr>
              <a:t>https://arxiv.org/pdf/2502.14502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This seemed very intersting, but hadnt enough time to look into this in depth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de-DE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Language Fusion for Parameter-Efficient Cross-lingual Transfer https://arxiv.org/pdf/2501.06892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 pitchFamily="0" charset="1"/>
        <a:ea typeface=""/>
        <a:cs typeface=""/>
      </a:majorFont>
      <a:minorFont>
        <a:latin typeface="Arial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Application>Collabora_Office/25.04.6.1$Linux_X86_64 LibreOffice_project/1942b5e6e9a7fd36bf8aebea96351f8442131ce3</Application>
  <AppVersion>15.0000</AppVersion>
  <Words>652</Words>
  <Paragraphs>115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2012-12-03T06:56:55Z</dcterms:created>
  <dc:creator/>
  <dc:description/>
  <dc:language>de-DE</dc:language>
  <cp:lastModifiedBy>Joel Dag</cp:lastModifiedBy>
  <dcterms:modified xsi:type="dcterms:W3CDTF">2025-10-26T17:16:49Z</dcterms:modified>
  <cp:revision>23</cp:revision>
  <dc:subject/>
  <dc:title>LoRA Varaitions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Breitbild</vt:lpwstr>
  </property>
  <property fmtid="{D5CDD505-2E9C-101B-9397-08002B2CF9AE}" pid="4" name="Slides">
    <vt:i4>8</vt:i4>
  </property>
</Properties>
</file>